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822960"/>
            <a:ext cx="2743200" cy="2743200"/>
          </a:xfrm>
          <a:prstGeom prst="ellipse">
            <a:avLst/>
          </a:prstGeom>
          <a:solidFill>
            <a:srgbClr val="23308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14884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DShield AI</a:t>
            </a:r>
            <a:endParaRPr lang="en-US" sz="6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461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Identity &amp; Document Risk Screening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3977640"/>
            <a:ext cx="2926080" cy="0"/>
          </a:xfrm>
          <a:prstGeom prst="line">
            <a:avLst/>
          </a:prstGeom>
          <a:noFill/>
          <a:ln w="19050">
            <a:solidFill>
              <a:srgbClr val="3E4A8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42976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ID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53542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26188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0" y="42976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486400" y="453542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&amp; Cybersecurity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93776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517550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0" y="493776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0" y="517550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 Lens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DShield AI  |  Falcon Lens  |  SIH 2026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identity checks can't keep pace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1691640"/>
          </a:xfrm>
          <a:prstGeom prst="roundRect">
            <a:avLst>
              <a:gd name="adj" fmla="val 6486"/>
            </a:avLst>
          </a:prstGeom>
          <a:solidFill>
            <a:srgbClr val="F4F6FB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8424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984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9476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&amp; Inconsistent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313432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checks vary officer to officer and don't scale with volume.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26480" y="1691640"/>
            <a:ext cx="5212080" cy="1691640"/>
          </a:xfrm>
          <a:prstGeom prst="roundRect">
            <a:avLst>
              <a:gd name="adj" fmla="val 6486"/>
            </a:avLst>
          </a:prstGeom>
          <a:solidFill>
            <a:srgbClr val="F4F6FB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984248"/>
            <a:ext cx="502920" cy="502920"/>
          </a:xfrm>
          <a:prstGeom prst="ellipse">
            <a:avLst/>
          </a:prstGeom>
          <a:solidFill>
            <a:srgbClr val="3B4A9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46520" y="1984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19476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Fake or Edited Documents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2313432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Photoshopped photos, altered dates, and cloned templates slip through.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5212080" cy="1691640"/>
          </a:xfrm>
          <a:prstGeom prst="roundRect">
            <a:avLst>
              <a:gd name="adj" fmla="val 6486"/>
            </a:avLst>
          </a:prstGeom>
          <a:solidFill>
            <a:srgbClr val="F4F6FB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3950208"/>
            <a:ext cx="502920" cy="502920"/>
          </a:xfrm>
          <a:prstGeom prst="ellipse">
            <a:avLst/>
          </a:prstGeom>
          <a:solidFill>
            <a:srgbClr val="5B6FC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3950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39136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 Impersonation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279392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person presenting the ID isn't always the person it belongs to.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0" y="3657600"/>
            <a:ext cx="5212080" cy="1691640"/>
          </a:xfrm>
          <a:prstGeom prst="roundRect">
            <a:avLst>
              <a:gd name="adj" fmla="val 6486"/>
            </a:avLst>
          </a:prstGeom>
          <a:solidFill>
            <a:srgbClr val="F4F6FB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3950208"/>
            <a:ext cx="502920" cy="502920"/>
          </a:xfrm>
          <a:prstGeom prst="ellipse">
            <a:avLst/>
          </a:prstGeom>
          <a:solidFill>
            <a:srgbClr val="8C9BD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46520" y="3950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39136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Error &amp; Overload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0" y="4279392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workload leads to fatigue, missed red flags, and inconsistent review.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DShield AI  |  Falcon Lens  |  SIH 2026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scan. A verified answer with reasons.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DShield AI verifies a traveler's identity and checks document authenticity in seconds — producing a real-time risk score backed by clear, explainable reasons instead of a black-box yes/no.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300984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312724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Face Biometrics + Document AI + MRZ Validation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776472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60273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Cross-verification across signals for higher accuracy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251960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407822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risk score with explainable reason codes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727448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45537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dashboard with full audit trail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1600200"/>
            <a:ext cx="5394960" cy="4434840"/>
          </a:xfrm>
          <a:prstGeom prst="roundRect">
            <a:avLst>
              <a:gd name="adj" fmla="val 2887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83680" y="18745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SCREENING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75120" y="2331720"/>
            <a:ext cx="2103120" cy="777240"/>
          </a:xfrm>
          <a:prstGeom prst="roundRect">
            <a:avLst>
              <a:gd name="adj" fmla="val 11765"/>
            </a:avLst>
          </a:prstGeom>
          <a:solidFill>
            <a:srgbClr val="141A47"/>
          </a:solidFill>
          <a:ln w="12700">
            <a:solidFill>
              <a:srgbClr val="3E4A8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75120" y="23317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052560" y="2331720"/>
            <a:ext cx="2103120" cy="777240"/>
          </a:xfrm>
          <a:prstGeom prst="roundRect">
            <a:avLst>
              <a:gd name="adj" fmla="val 11765"/>
            </a:avLst>
          </a:prstGeom>
          <a:solidFill>
            <a:srgbClr val="141A47"/>
          </a:solidFill>
          <a:ln w="12700">
            <a:solidFill>
              <a:srgbClr val="3E4A8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052560" y="23317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Face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549640" y="3200400"/>
            <a:ext cx="365760" cy="365760"/>
          </a:xfrm>
          <a:prstGeom prst="downArrow">
            <a:avLst/>
          </a:prstGeom>
          <a:solidFill>
            <a:srgbClr val="CADCFC"/>
          </a:solidFill>
          <a:ln/>
        </p:spPr>
      </p:sp>
      <p:sp>
        <p:nvSpPr>
          <p:cNvPr id="20" name="Shape 18"/>
          <p:cNvSpPr/>
          <p:nvPr/>
        </p:nvSpPr>
        <p:spPr>
          <a:xfrm>
            <a:off x="7040880" y="3657600"/>
            <a:ext cx="3749040" cy="685800"/>
          </a:xfrm>
          <a:prstGeom prst="roundRect">
            <a:avLst>
              <a:gd name="adj" fmla="val 13333"/>
            </a:avLst>
          </a:prstGeom>
          <a:solidFill>
            <a:srgbClr val="2A357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040880" y="36576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Verification Engine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549640" y="4434840"/>
            <a:ext cx="365760" cy="365760"/>
          </a:xfrm>
          <a:prstGeom prst="downArrow">
            <a:avLst/>
          </a:prstGeom>
          <a:solidFill>
            <a:srgbClr val="CADCFC"/>
          </a:solidFill>
          <a:ln/>
        </p:spPr>
      </p:sp>
      <p:sp>
        <p:nvSpPr>
          <p:cNvPr id="23" name="Shape 21"/>
          <p:cNvSpPr/>
          <p:nvPr/>
        </p:nvSpPr>
        <p:spPr>
          <a:xfrm>
            <a:off x="6812280" y="4892040"/>
            <a:ext cx="42062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040880" y="5001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7040880" y="5257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B9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9601200" y="5074920"/>
            <a:ext cx="1051560" cy="1051560"/>
          </a:xfrm>
          <a:prstGeom prst="ellipse">
            <a:avLst/>
          </a:prstGeom>
          <a:solidFill>
            <a:srgbClr val="E9F9EF"/>
          </a:solidFill>
          <a:ln w="19050">
            <a:solidFill>
              <a:srgbClr val="1DB95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601200" y="50749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DShield AI  |  Falcon Lens  |  SIH 2026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INNOVATION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DShield AI different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15184" cy="3794760"/>
          </a:xfrm>
          <a:prstGeom prst="roundRect">
            <a:avLst>
              <a:gd name="adj" fmla="val 4196"/>
            </a:avLst>
          </a:prstGeom>
          <a:solidFill>
            <a:srgbClr val="F4F6FB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5740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803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Multi-Signal Fusion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61188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biometrics, document AI, and MRZ validation cross-checked together — not in isolation.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46704" y="1737360"/>
            <a:ext cx="2615184" cy="3794760"/>
          </a:xfrm>
          <a:prstGeom prst="roundRect">
            <a:avLst>
              <a:gd name="adj" fmla="val 4196"/>
            </a:avLst>
          </a:prstGeom>
          <a:solidFill>
            <a:srgbClr val="F4F6FB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66744" y="205740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3B4A9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66744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621024" y="28803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Higher Accuracy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3621024" y="361188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Cross-verification across signals catches what a single check would miss.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44768" y="1737360"/>
            <a:ext cx="2615184" cy="3794760"/>
          </a:xfrm>
          <a:prstGeom prst="roundRect">
            <a:avLst>
              <a:gd name="adj" fmla="val 4196"/>
            </a:avLst>
          </a:prstGeom>
          <a:solidFill>
            <a:srgbClr val="F4F6FB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64808" y="205740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64808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419088" y="28803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Risk Score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6419088" y="361188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score ships with plain-language reason codes, not a black box.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42832" y="1737360"/>
            <a:ext cx="2615184" cy="3794760"/>
          </a:xfrm>
          <a:prstGeom prst="roundRect">
            <a:avLst>
              <a:gd name="adj" fmla="val 4196"/>
            </a:avLst>
          </a:prstGeom>
          <a:solidFill>
            <a:srgbClr val="F4F6FB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62872" y="205740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5B6FC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62872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217152" y="28803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Auditable Dashboard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9217152" y="361188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User-friendly officer console with full, tamper-evident audit logs.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DShield AI  |  Falcon Lens  |  SIH 2026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 — five stages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993392" cy="2286000"/>
          </a:xfrm>
          <a:prstGeom prst="roundRect">
            <a:avLst>
              <a:gd name="adj" fmla="val 4587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293876" y="235915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93876" y="2359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301752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Intake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429000"/>
            <a:ext cx="1719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upload, live capture, quality gate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23744" y="3145536"/>
            <a:ext cx="210312" cy="201168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0" name="Shape 8"/>
          <p:cNvSpPr/>
          <p:nvPr/>
        </p:nvSpPr>
        <p:spPr>
          <a:xfrm>
            <a:off x="2715768" y="2103120"/>
            <a:ext cx="1993392" cy="2286000"/>
          </a:xfrm>
          <a:prstGeom prst="roundRect">
            <a:avLst>
              <a:gd name="adj" fmla="val 4587"/>
            </a:avLst>
          </a:prstGeom>
          <a:solidFill>
            <a:srgbClr val="2A3577"/>
          </a:solidFill>
          <a:ln/>
        </p:spPr>
      </p:sp>
      <p:sp>
        <p:nvSpPr>
          <p:cNvPr id="11" name="Shape 9"/>
          <p:cNvSpPr/>
          <p:nvPr/>
        </p:nvSpPr>
        <p:spPr>
          <a:xfrm>
            <a:off x="3461004" y="235915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461004" y="2359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35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825496" y="301752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Extraction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852928" y="3429000"/>
            <a:ext cx="1719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+ MRZ parsing, field validation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90872" y="3145536"/>
            <a:ext cx="210312" cy="201168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6" name="Shape 14"/>
          <p:cNvSpPr/>
          <p:nvPr/>
        </p:nvSpPr>
        <p:spPr>
          <a:xfrm>
            <a:off x="4882896" y="2103120"/>
            <a:ext cx="1993392" cy="2286000"/>
          </a:xfrm>
          <a:prstGeom prst="roundRect">
            <a:avLst>
              <a:gd name="adj" fmla="val 4587"/>
            </a:avLst>
          </a:prstGeom>
          <a:solidFill>
            <a:srgbClr val="3B4A9E"/>
          </a:solidFill>
          <a:ln/>
        </p:spPr>
      </p:sp>
      <p:sp>
        <p:nvSpPr>
          <p:cNvPr id="17" name="Shape 15"/>
          <p:cNvSpPr/>
          <p:nvPr/>
        </p:nvSpPr>
        <p:spPr>
          <a:xfrm>
            <a:off x="5628132" y="235915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628132" y="2359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4A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992624" y="301752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Forensics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020056" y="3429000"/>
            <a:ext cx="1719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 detection, anomaly analysis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858000" y="3145536"/>
            <a:ext cx="210312" cy="201168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22" name="Shape 20"/>
          <p:cNvSpPr/>
          <p:nvPr/>
        </p:nvSpPr>
        <p:spPr>
          <a:xfrm>
            <a:off x="7050024" y="2103120"/>
            <a:ext cx="1993392" cy="2286000"/>
          </a:xfrm>
          <a:prstGeom prst="roundRect">
            <a:avLst>
              <a:gd name="adj" fmla="val 4587"/>
            </a:avLst>
          </a:prstGeom>
          <a:solidFill>
            <a:srgbClr val="5B6FC7"/>
          </a:solidFill>
          <a:ln/>
        </p:spPr>
      </p:sp>
      <p:sp>
        <p:nvSpPr>
          <p:cNvPr id="23" name="Shape 21"/>
          <p:cNvSpPr/>
          <p:nvPr/>
        </p:nvSpPr>
        <p:spPr>
          <a:xfrm>
            <a:off x="7795260" y="235915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795260" y="2359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F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159752" y="301752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187184" y="3429000"/>
            <a:ext cx="1719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verification, risk scoring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025128" y="3145536"/>
            <a:ext cx="210312" cy="201168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28" name="Shape 26"/>
          <p:cNvSpPr/>
          <p:nvPr/>
        </p:nvSpPr>
        <p:spPr>
          <a:xfrm>
            <a:off x="9217152" y="2103120"/>
            <a:ext cx="1993392" cy="2286000"/>
          </a:xfrm>
          <a:prstGeom prst="roundRect">
            <a:avLst>
              <a:gd name="adj" fmla="val 4587"/>
            </a:avLst>
          </a:prstGeom>
          <a:solidFill>
            <a:srgbClr val="00A896"/>
          </a:solidFill>
          <a:ln/>
        </p:spPr>
      </p:sp>
      <p:sp>
        <p:nvSpPr>
          <p:cNvPr id="29" name="Shape 27"/>
          <p:cNvSpPr/>
          <p:nvPr/>
        </p:nvSpPr>
        <p:spPr>
          <a:xfrm>
            <a:off x="9962388" y="235915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962388" y="2359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9326880" y="301752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9354312" y="3429000"/>
            <a:ext cx="1719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review, authorized decision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4709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decision flow: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2331720" y="470916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 →  Extract  →  Verify  →  Analyze  →  Human-authorized decision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548640" y="5257800"/>
            <a:ext cx="3520440" cy="868680"/>
          </a:xfrm>
          <a:prstGeom prst="roundRect">
            <a:avLst>
              <a:gd name="adj" fmla="val 10526"/>
            </a:avLst>
          </a:prstGeom>
          <a:solidFill>
            <a:srgbClr val="E9F9EF"/>
          </a:solidFill>
          <a:ln w="15875">
            <a:solidFill>
              <a:srgbClr val="1DB95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4672" y="5477256"/>
            <a:ext cx="411480" cy="411480"/>
          </a:xfrm>
          <a:prstGeom prst="ellipse">
            <a:avLst/>
          </a:prstGeom>
          <a:solidFill>
            <a:srgbClr val="1DB954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1371600" y="52578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B9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297680" y="5257800"/>
            <a:ext cx="3520440" cy="868680"/>
          </a:xfrm>
          <a:prstGeom prst="roundRect">
            <a:avLst>
              <a:gd name="adj" fmla="val 10526"/>
            </a:avLst>
          </a:prstGeom>
          <a:solidFill>
            <a:srgbClr val="FEF3E0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53712" y="5477256"/>
            <a:ext cx="411480" cy="41148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5120640" y="52578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046720" y="5257800"/>
            <a:ext cx="3520440" cy="868680"/>
          </a:xfrm>
          <a:prstGeom prst="roundRect">
            <a:avLst>
              <a:gd name="adj" fmla="val 10526"/>
            </a:avLst>
          </a:prstGeom>
          <a:solidFill>
            <a:srgbClr val="FDECEE"/>
          </a:solidFill>
          <a:ln w="15875">
            <a:solidFill>
              <a:srgbClr val="E6394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302752" y="5477256"/>
            <a:ext cx="411480" cy="41148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8869680" y="52578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REJECTED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DShield AI  |  Falcon Lens  |  SIH 2026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ENGINE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scoring, not a black box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returns a 0–100 risk score plus the specific reason codes behind it — so an officer sees exactly what triggered a flag.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486400" cy="566928"/>
          </a:xfrm>
          <a:prstGeom prst="roundRect">
            <a:avLst>
              <a:gd name="adj" fmla="val 12903"/>
            </a:avLst>
          </a:prstGeom>
          <a:solidFill>
            <a:srgbClr val="141A47"/>
          </a:solidFill>
          <a:ln w="12700">
            <a:solidFill>
              <a:srgbClr val="3E4A8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51460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 checksum failed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709160" y="251460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227832"/>
            <a:ext cx="5486400" cy="566928"/>
          </a:xfrm>
          <a:prstGeom prst="roundRect">
            <a:avLst>
              <a:gd name="adj" fmla="val 12903"/>
            </a:avLst>
          </a:prstGeom>
          <a:solidFill>
            <a:srgbClr val="141A47"/>
          </a:solidFill>
          <a:ln w="12700">
            <a:solidFill>
              <a:srgbClr val="3E4A8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22783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tampering detected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3227832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41064"/>
            <a:ext cx="5486400" cy="566928"/>
          </a:xfrm>
          <a:prstGeom prst="roundRect">
            <a:avLst>
              <a:gd name="adj" fmla="val 12903"/>
            </a:avLst>
          </a:prstGeom>
          <a:solidFill>
            <a:srgbClr val="141A47"/>
          </a:solidFill>
          <a:ln w="12700">
            <a:solidFill>
              <a:srgbClr val="3E4A8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94106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mismatch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3941064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654296"/>
            <a:ext cx="5486400" cy="566928"/>
          </a:xfrm>
          <a:prstGeom prst="roundRect">
            <a:avLst>
              <a:gd name="adj" fmla="val 12903"/>
            </a:avLst>
          </a:prstGeom>
          <a:solidFill>
            <a:srgbClr val="141A47"/>
          </a:solidFill>
          <a:ln w="12700">
            <a:solidFill>
              <a:srgbClr val="3E4A8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4654296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inconsistency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709160" y="465429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1600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BUCKETS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92240" y="2011680"/>
            <a:ext cx="5120640" cy="1024128"/>
          </a:xfrm>
          <a:prstGeom prst="roundRect">
            <a:avLst>
              <a:gd name="adj" fmla="val 8929"/>
            </a:avLst>
          </a:prstGeom>
          <a:solidFill>
            <a:srgbClr val="173B2A"/>
          </a:solidFill>
          <a:ln/>
        </p:spPr>
      </p:sp>
      <p:sp>
        <p:nvSpPr>
          <p:cNvPr id="19" name="Shape 17"/>
          <p:cNvSpPr/>
          <p:nvPr/>
        </p:nvSpPr>
        <p:spPr>
          <a:xfrm>
            <a:off x="6720840" y="2249424"/>
            <a:ext cx="128016" cy="548640"/>
          </a:xfrm>
          <a:prstGeom prst="roundRect">
            <a:avLst/>
          </a:prstGeom>
          <a:solidFill>
            <a:srgbClr val="1DB95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995160" y="215798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B9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995160" y="25786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0–19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92240" y="3246120"/>
            <a:ext cx="5120640" cy="1024128"/>
          </a:xfrm>
          <a:prstGeom prst="roundRect">
            <a:avLst>
              <a:gd name="adj" fmla="val 8929"/>
            </a:avLst>
          </a:prstGeom>
          <a:solidFill>
            <a:srgbClr val="3D3018"/>
          </a:solidFill>
          <a:ln/>
        </p:spPr>
      </p:sp>
      <p:sp>
        <p:nvSpPr>
          <p:cNvPr id="23" name="Shape 21"/>
          <p:cNvSpPr/>
          <p:nvPr/>
        </p:nvSpPr>
        <p:spPr>
          <a:xfrm>
            <a:off x="6720840" y="3483864"/>
            <a:ext cx="128016" cy="548640"/>
          </a:xfrm>
          <a:prstGeom prst="roundRect">
            <a:avLst/>
          </a:prstGeom>
          <a:solidFill>
            <a:srgbClr val="F5A62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995160" y="339242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6995160" y="3813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20–59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92240" y="4480560"/>
            <a:ext cx="5120640" cy="1024128"/>
          </a:xfrm>
          <a:prstGeom prst="roundRect">
            <a:avLst>
              <a:gd name="adj" fmla="val 8929"/>
            </a:avLst>
          </a:prstGeom>
          <a:solidFill>
            <a:srgbClr val="3D1E22"/>
          </a:solidFill>
          <a:ln/>
        </p:spPr>
      </p:sp>
      <p:sp>
        <p:nvSpPr>
          <p:cNvPr id="27" name="Shape 25"/>
          <p:cNvSpPr/>
          <p:nvPr/>
        </p:nvSpPr>
        <p:spPr>
          <a:xfrm>
            <a:off x="6720840" y="4718304"/>
            <a:ext cx="128016" cy="548640"/>
          </a:xfrm>
          <a:prstGeom prst="roundRect">
            <a:avLst/>
          </a:prstGeom>
          <a:solidFill>
            <a:srgbClr val="E6394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995160" y="462686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REJECTED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6995160" y="50474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60–100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DShield AI  |  Falcon Lens  |  SIH 2026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6492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7548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Technologies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+ TypeScript, Tailwind CSS, shadcn/ui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FastAPI, PostgreSQL, SQLAlchemy, RBAC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/ CV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OpenCV, PaddleOCR, InsightFace, PyTorch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HTTPS, encrypted storage, audit logging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Cloud-ready, future edge / offline capability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60920" y="1645920"/>
            <a:ext cx="4297680" cy="1042416"/>
          </a:xfrm>
          <a:prstGeom prst="roundRect">
            <a:avLst>
              <a:gd name="adj" fmla="val 8772"/>
            </a:avLst>
          </a:prstGeom>
          <a:solidFill>
            <a:srgbClr val="F4F6FB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543800" y="1865376"/>
            <a:ext cx="91440" cy="603504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0" y="17647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Intelligence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772400" y="210312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field extraction with structured, cross-checked validation.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360920" y="2852928"/>
            <a:ext cx="4297680" cy="1042416"/>
          </a:xfrm>
          <a:prstGeom prst="roundRect">
            <a:avLst>
              <a:gd name="adj" fmla="val 8772"/>
            </a:avLst>
          </a:prstGeom>
          <a:solidFill>
            <a:srgbClr val="F4F6FB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543800" y="3072384"/>
            <a:ext cx="91440" cy="603504"/>
          </a:xfrm>
          <a:prstGeom prst="roundRect">
            <a:avLst/>
          </a:prstGeom>
          <a:solidFill>
            <a:srgbClr val="3B4A9E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772400" y="29718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 Consistency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772400" y="3310128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Cross-document checks against previously submitted records.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360920" y="4059936"/>
            <a:ext cx="4297680" cy="1042416"/>
          </a:xfrm>
          <a:prstGeom prst="roundRect">
            <a:avLst>
              <a:gd name="adj" fmla="val 8772"/>
            </a:avLst>
          </a:prstGeom>
          <a:solidFill>
            <a:srgbClr val="F4F6FB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543800" y="4279392"/>
            <a:ext cx="91440" cy="603504"/>
          </a:xfrm>
          <a:prstGeom prst="roundRect">
            <a:avLst/>
          </a:prstGeom>
          <a:solidFill>
            <a:srgbClr val="F5A62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772400" y="41788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Forensics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0" y="4517136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tampering, manipulation, and image or chip anomalies.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360920" y="5266944"/>
            <a:ext cx="4297680" cy="1042416"/>
          </a:xfrm>
          <a:prstGeom prst="roundRect">
            <a:avLst>
              <a:gd name="adj" fmla="val 8772"/>
            </a:avLst>
          </a:prstGeom>
          <a:solidFill>
            <a:srgbClr val="F4F6FB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543800" y="5486400"/>
            <a:ext cx="91440" cy="603504"/>
          </a:xfrm>
          <a:prstGeom prst="roundRect">
            <a:avLst/>
          </a:prstGeom>
          <a:solidFill>
            <a:srgbClr val="00A896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772400" y="538581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Risk Engine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7772400" y="5724144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reason codes and evidence behind every risk flag.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DShield AI  |  Falcon Lens  |  SIH 2026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&amp; VIABILITY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in what's achievable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023360"/>
          </a:xfrm>
          <a:prstGeom prst="roundRect">
            <a:avLst>
              <a:gd name="adj" fmla="val 2727"/>
            </a:avLst>
          </a:prstGeom>
          <a:solidFill>
            <a:srgbClr val="F4F6FB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OF IDEA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B6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2103120" y="233172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(OCR, face recognition, liveness, forgery detection) with multi-layer verification.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72968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B6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3172968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Scalable, multi-ID support via a modular real-time screening pipeline.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014216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B6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103120" y="4014216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verification reduces manual effort and error rate.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855464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B6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2103120" y="4855464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deployable with real-time results; integrates into existing KYC/ID workflows.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1691640"/>
            <a:ext cx="5440680" cy="4023360"/>
          </a:xfrm>
          <a:prstGeom prst="roundRect">
            <a:avLst>
              <a:gd name="adj" fmla="val 2727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92240" y="1874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 →  HOW WE ADDRESS THEM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23317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Poor-quality document images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2642616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Pre-processing: cropping, perspective correction, denoising, sharpening.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33832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Sophisticated fakes &amp; face spoofing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3694176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verification: OCR + forgery detection + face match + liveness.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443484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security of identity data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4745736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in transit/storage, RBAC, minimal retention, audit logs.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8521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*Prototype uses synthetic/demo data only — no live government database access.*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DShield AI  |  Falcon Lens  |  SIH 2026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BENEFITS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document trust to identity trust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6675120" cy="914400"/>
        </p:xfrm>
        <a:graphic>
          <a:graphicData uri="http://schemas.openxmlformats.org/drawingml/2006/table">
            <a:tbl>
              <a:tblPr/>
              <a:tblGrid>
                <a:gridCol w="3337560"/>
                <a:gridCol w="333756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Traditional Verification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2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Modern Identity Verification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 document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 person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ID validity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 identity ownership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One-time onboarding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identity assurance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 fake documents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 synthetic identities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review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Biometrics + liveness + deepfake detection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709160"/>
            <a:ext cx="6675120" cy="868680"/>
          </a:xfrm>
          <a:prstGeom prst="roundRect">
            <a:avLst>
              <a:gd name="adj" fmla="val 10526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4709160"/>
            <a:ext cx="6126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Deepfakes have turned identity fraud from a document problem into a trust problem.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7543800" y="1691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AUDIENCE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543800" y="2057400"/>
            <a:ext cx="4114800" cy="548640"/>
          </a:xfrm>
          <a:prstGeom prst="roundRect">
            <a:avLst>
              <a:gd name="adj" fmla="val 13333"/>
            </a:avLst>
          </a:prstGeom>
          <a:solidFill>
            <a:srgbClr val="F4F6FB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99248" y="2221992"/>
            <a:ext cx="219456" cy="21945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92440" y="205740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Airports &amp; Security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543800" y="2715768"/>
            <a:ext cx="4114800" cy="548640"/>
          </a:xfrm>
          <a:prstGeom prst="roundRect">
            <a:avLst>
              <a:gd name="adj" fmla="val 13333"/>
            </a:avLst>
          </a:prstGeom>
          <a:solidFill>
            <a:srgbClr val="F4F6FB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699248" y="2880360"/>
            <a:ext cx="219456" cy="21945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092440" y="271576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&amp; Financial Institutions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543800" y="3374136"/>
            <a:ext cx="4114800" cy="548640"/>
          </a:xfrm>
          <a:prstGeom prst="roundRect">
            <a:avLst>
              <a:gd name="adj" fmla="val 13333"/>
            </a:avLst>
          </a:prstGeom>
          <a:solidFill>
            <a:srgbClr val="F4F6FB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699248" y="3538728"/>
            <a:ext cx="219456" cy="21945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92440" y="337413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Departments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543800" y="4032504"/>
            <a:ext cx="4114800" cy="548640"/>
          </a:xfrm>
          <a:prstGeom prst="roundRect">
            <a:avLst>
              <a:gd name="adj" fmla="val 13333"/>
            </a:avLst>
          </a:prstGeom>
          <a:solidFill>
            <a:srgbClr val="F4F6FB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699248" y="4197096"/>
            <a:ext cx="219456" cy="21945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092440" y="4032504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/ KYC Platforms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543800" y="4690872"/>
            <a:ext cx="4114800" cy="548640"/>
          </a:xfrm>
          <a:prstGeom prst="roundRect">
            <a:avLst>
              <a:gd name="adj" fmla="val 13333"/>
            </a:avLst>
          </a:prstGeom>
          <a:solidFill>
            <a:srgbClr val="F4F6FB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699248" y="4855464"/>
            <a:ext cx="219456" cy="21945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092440" y="4690872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Enforcement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DShield AI  |  Falcon Lens  |  SIH 2026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REFERENCES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established standards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F4F6FB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STANDARDS &amp; FRAMEWORKS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231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ICAO Doc 9303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71576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MRZ parsing and checksum validation for global interoperability.</a:t>
            </a:r>
            <a:endParaRPr lang="en-US" sz="108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3375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ISO/IEC 30107-3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63016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Attack Detection — anti-spoofing against photos, screens, replay attacks.</a:t>
            </a:r>
            <a:endParaRPr lang="en-US" sz="108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2519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Forgery &amp; Tamper Detection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54456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Level Analysis (ELA) and CNNs for anomaly detection.</a:t>
            </a:r>
            <a:endParaRPr lang="en-US" sz="108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51663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Security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545896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encryption, TLS 1.3, role-based access, tamper-evident audit logging.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263640" y="169164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F4F6FB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BENCHMARKS, LITERATURE &amp; DATASETS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24231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MIDV-500 / MIDV-2019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271576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for mobile document capture, perspective correction, OCR.</a:t>
            </a:r>
            <a:endParaRPr lang="en-US" sz="108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33375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NIST FRVT/FATE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363016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 for 1:1 facial matching accuracy and false acceptance rates.</a:t>
            </a:r>
            <a:endParaRPr lang="en-US" sz="108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42519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Open-Source Vision &amp; AI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454456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OpenCV, Tesseract OCR, PyTorch pipelines for multimodal inference.</a:t>
            </a:r>
            <a:endParaRPr lang="en-US" sz="108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51663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SIH PS 26188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545896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manual-check limitations, high error rates, and inconsistent verification.</a:t>
            </a:r>
            <a:endParaRPr lang="en-US" sz="108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DShield AI  |  Falcon Lens  |  SIH 2026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572000"/>
            <a:ext cx="4572000" cy="45720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645920"/>
            <a:ext cx="4114800" cy="41148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4688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4290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DShield AI — turning document trust into identity trust.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069080"/>
            <a:ext cx="2377440" cy="0"/>
          </a:xfrm>
          <a:prstGeom prst="line">
            <a:avLst/>
          </a:prstGeom>
          <a:noFill/>
          <a:ln w="19050">
            <a:solidFill>
              <a:srgbClr val="3E4A8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Falcon Lens   |   SIH 2026   |   PS 26188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DShield AI  |  Falcon Lens  |  SIH 2026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2026-09-08T01:50:54Z</dcterms:created>
  <dcterms:modified xsi:type="dcterms:W3CDTF">2026-09-08T01:50:54Z</dcterms:modified>
</cp:coreProperties>
</file>